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5253A"/>
                </a:solidFill>
                <a:latin typeface="Calibri"/>
              </a:rPr>
              <a:t>Well-to-wake GHG, Mt CO₂e per year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dPt>
            <c:idx val="0"/>
            <c:spPr>
              <a:solidFill>
                <a:srgbClr val="9AA5B1"/>
              </a:solidFill>
              <a:ln>
                <a:noFill/>
              </a:ln>
            </c:spPr>
          </c:dPt>
          <c:dPt>
            <c:idx val="1"/>
            <c:spPr>
              <a:solidFill>
                <a:srgbClr val="C3CAD2"/>
              </a:solidFill>
              <a:ln>
                <a:noFill/>
              </a:ln>
            </c:spPr>
          </c:dPt>
          <c:dPt>
            <c:idx val="2"/>
            <c:spPr>
              <a:solidFill>
                <a:srgbClr val="2E6B5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Current practice</c:v>
                </c:pt>
                <c:pt idx="1">
                  <c:v>Slow steaming</c:v>
                </c:pt>
                <c:pt idx="2">
                  <c:v>Q-GreenFleet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1.24</c:v>
                </c:pt>
                <c:pt idx="2">
                  <c:v>0.87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>
                  <a:solidFill>
                    <a:srgbClr val="1E2935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2DA"/>
            </a:solidFill>
          </a:ln>
        </c:spPr>
        <c:txPr>
          <a:bodyPr/>
          <a:lstStyle/>
          <a:p>
            <a:pPr>
              <a:defRPr sz="1050">
                <a:solidFill>
                  <a:srgbClr val="1E293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5253A"/>
                </a:solidFill>
                <a:latin typeface="Calibri"/>
              </a:rPr>
              <a:t>Fleet-plan quality (hypervolume, India 2030, 3 seeds)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HV</c:v>
                </c:pt>
              </c:strCache>
            </c:strRef>
          </c:tx>
          <c:dPt>
            <c:idx val="0"/>
            <c:spPr>
              <a:solidFill>
                <a:srgbClr val="9AA5B1"/>
              </a:solidFill>
              <a:ln>
                <a:noFill/>
              </a:ln>
            </c:spPr>
          </c:dPt>
          <c:dPt>
            <c:idx val="1"/>
            <c:spPr>
              <a:solidFill>
                <a:srgbClr val="9AA5B1"/>
              </a:solidFill>
              <a:ln>
                <a:noFill/>
              </a:ln>
            </c:spPr>
          </c:dPt>
          <c:dPt>
            <c:idx val="2"/>
            <c:spPr>
              <a:solidFill>
                <a:srgbClr val="9AA5B1"/>
              </a:solidFill>
              <a:ln>
                <a:noFill/>
              </a:ln>
            </c:spPr>
          </c:dPt>
          <c:dPt>
            <c:idx val="3"/>
            <c:spPr>
              <a:solidFill>
                <a:srgbClr val="9AA5B1"/>
              </a:solidFill>
              <a:ln>
                <a:noFill/>
              </a:ln>
            </c:spPr>
          </c:dPt>
          <c:dPt>
            <c:idx val="4"/>
            <c:spPr>
              <a:solidFill>
                <a:srgbClr val="9AA5B1"/>
              </a:solidFill>
              <a:ln>
                <a:noFill/>
              </a:ln>
            </c:spPr>
          </c:dPt>
          <c:dPt>
            <c:idx val="5"/>
            <c:spPr>
              <a:solidFill>
                <a:srgbClr val="2E6B50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NSGA-II</c:v>
                </c:pt>
                <c:pt idx="1">
                  <c:v>SPEA2</c:v>
                </c:pt>
                <c:pt idx="2">
                  <c:v>MOQPSO (ablation)</c:v>
                </c:pt>
                <c:pt idx="3">
                  <c:v>NSGA-III</c:v>
                </c:pt>
                <c:pt idx="4">
                  <c:v>MOPSO</c:v>
                </c:pt>
                <c:pt idx="5">
                  <c:v>QMOEA-H (ours)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0.091</c:v>
                </c:pt>
                <c:pt idx="1">
                  <c:v>0.112</c:v>
                </c:pt>
                <c:pt idx="2">
                  <c:v>0.439</c:v>
                </c:pt>
                <c:pt idx="3">
                  <c:v>0.542</c:v>
                </c:pt>
                <c:pt idx="4">
                  <c:v>0.692</c:v>
                </c:pt>
                <c:pt idx="5">
                  <c:v>0.797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1E2935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2DA"/>
            </a:solidFill>
          </a:ln>
        </c:spPr>
        <c:txPr>
          <a:bodyPr/>
          <a:lstStyle/>
          <a:p>
            <a:pPr>
              <a:defRPr sz="1050">
                <a:solidFill>
                  <a:srgbClr val="1E293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Three steps: predict (Q-PHYS), optimise (QMOEA-H), decide (dashboard and report). The problem rows map each pain point to what the prototype does about it.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Left: the stack by layer. Right: the six-stage pipeline as built, and a screenshot of the running dashboard (fleet allocation map and emission profile by service).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prototype already exists, so feasibility is shown with measured numbers. Each risk is paired with the mitigation that is built in or planned.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Numbers are from the recommended plan on the India 2030 network (QMOEA-H, 8,000 evaluations) against current practice: VLSFO at the fastest schedule-feasible speed, no shore power.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chart is the headline optimisation benchmark (8,000 plan evaluations per run). Full tables, statistical tests and figures are in reports/ in the repository.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Q-GreenFleet predicts every ship's fuel burn and re-plans the whole fleet for the lowest fuel, emissions and cost that still meet cargo, schedule and emission rules. Fill in Team ID and Team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13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6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chart" Target="../charts/chart2.xml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25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868680"/>
            <a:ext cx="8534400" cy="1097280"/>
          </a:xfrm>
        </p:spPr>
        <p:txBody>
          <a:bodyPr anchor="t"/>
          <a:lstStyle/>
          <a:p>
            <a:pPr algn="ctr"/>
            <a:r>
              <a:rPr sz="3400" b="1" i="0">
                <a:solidFill>
                  <a:srgbClr val="15253A"/>
                </a:solidFill>
                <a:latin typeface="Times New Roman"/>
              </a:rPr>
              <a:t>Q-GreenFleet</a:t>
            </a:r>
          </a:p>
          <a:p>
            <a:pPr algn="ctr"/>
            <a:r>
              <a:rPr sz="1600" b="0" i="1">
                <a:solidFill>
                  <a:srgbClr val="2E6B50"/>
                </a:solidFill>
                <a:latin typeface="Calibri"/>
              </a:rPr>
              <a:t>Quantum-inspired fuel prediction &amp; green fleet optimization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2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148840"/>
            <a:ext cx="544068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00000"/>
              </a:lnSpc>
              <a:spcAft>
                <a:spcPts val="1500"/>
              </a:spcAft>
              <a:buClr>
                <a:srgbClr val="B5452E"/>
              </a:buClr>
              <a:buFont typeface="Arial" panose="020B0604020202020204" pitchFamily="34" charset="0"/>
              <a:buChar char="•"/>
            </a:pPr>
            <a:r>
              <a:rPr sz="1800" b="1" i="0">
                <a:solidFill>
                  <a:srgbClr val="15253A"/>
                </a:solidFill>
                <a:latin typeface="Calibri"/>
              </a:rPr>
              <a:t>Problem Statement ID – </a:t>
            </a:r>
            <a:r>
              <a:rPr sz="1800" b="0" i="0">
                <a:solidFill>
                  <a:srgbClr val="1E2935"/>
                </a:solidFill>
                <a:latin typeface="Calibri"/>
              </a:rPr>
              <a:t>26138</a:t>
            </a:r>
          </a:p>
          <a:p>
            <a:pPr marL="285750" indent="-285750" algn="l">
              <a:lnSpc>
                <a:spcPct val="100000"/>
              </a:lnSpc>
              <a:spcAft>
                <a:spcPts val="1500"/>
              </a:spcAft>
              <a:buClr>
                <a:srgbClr val="B5452E"/>
              </a:buClr>
              <a:buFont typeface="Arial" panose="020B0604020202020204" pitchFamily="34" charset="0"/>
              <a:buChar char="•"/>
            </a:pPr>
            <a:r>
              <a:rPr sz="1800" b="1" i="0">
                <a:solidFill>
                  <a:srgbClr val="15253A"/>
                </a:solidFill>
                <a:latin typeface="Calibri"/>
              </a:rPr>
              <a:t>Problem Statement Title – </a:t>
            </a:r>
            <a:r>
              <a:rPr sz="1800" b="0" i="0">
                <a:solidFill>
                  <a:srgbClr val="1E2935"/>
                </a:solidFill>
                <a:latin typeface="Calibri"/>
              </a:rPr>
              <a:t>Quantum-Inspired Fuel Consumption Prediction and Green Fleet Optimization</a:t>
            </a:r>
          </a:p>
          <a:p>
            <a:pPr marL="285750" indent="-285750" algn="l">
              <a:lnSpc>
                <a:spcPct val="100000"/>
              </a:lnSpc>
              <a:spcAft>
                <a:spcPts val="1500"/>
              </a:spcAft>
              <a:buClr>
                <a:srgbClr val="B5452E"/>
              </a:buClr>
              <a:buFont typeface="Arial" panose="020B0604020202020204" pitchFamily="34" charset="0"/>
              <a:buChar char="•"/>
            </a:pPr>
            <a:r>
              <a:rPr sz="1800" b="1" i="0">
                <a:solidFill>
                  <a:srgbClr val="15253A"/>
                </a:solidFill>
                <a:latin typeface="Calibri"/>
              </a:rPr>
              <a:t>Theme – </a:t>
            </a:r>
            <a:r>
              <a:rPr sz="1800" b="0" i="0">
                <a:solidFill>
                  <a:srgbClr val="1E2935"/>
                </a:solidFill>
                <a:latin typeface="Calibri"/>
              </a:rPr>
              <a:t>Clean &amp; Green Technology</a:t>
            </a:r>
          </a:p>
          <a:p>
            <a:pPr marL="285750" indent="-285750" algn="l">
              <a:lnSpc>
                <a:spcPct val="100000"/>
              </a:lnSpc>
              <a:spcAft>
                <a:spcPts val="1500"/>
              </a:spcAft>
              <a:buClr>
                <a:srgbClr val="B5452E"/>
              </a:buClr>
              <a:buFont typeface="Arial" panose="020B0604020202020204" pitchFamily="34" charset="0"/>
              <a:buChar char="•"/>
            </a:pPr>
            <a:r>
              <a:rPr sz="1800" b="1" i="0">
                <a:solidFill>
                  <a:srgbClr val="15253A"/>
                </a:solidFill>
                <a:latin typeface="Calibri"/>
              </a:rPr>
              <a:t>PS Category – </a:t>
            </a:r>
            <a:r>
              <a:rPr sz="1800" b="0" i="0">
                <a:solidFill>
                  <a:srgbClr val="1E2935"/>
                </a:solidFill>
                <a:latin typeface="Calibri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Aft>
                <a:spcPts val="1500"/>
              </a:spcAft>
              <a:buClr>
                <a:srgbClr val="B5452E"/>
              </a:buClr>
              <a:buFont typeface="Arial" panose="020B0604020202020204" pitchFamily="34" charset="0"/>
              <a:buChar char="•"/>
            </a:pPr>
            <a:r>
              <a:rPr sz="1800" b="1" i="0">
                <a:solidFill>
                  <a:srgbClr val="15253A"/>
                </a:solidFill>
                <a:latin typeface="Calibri"/>
              </a:rPr>
              <a:t>Team ID – </a:t>
            </a:r>
          </a:p>
          <a:p>
            <a:pPr marL="285750" indent="-285750" algn="l">
              <a:lnSpc>
                <a:spcPct val="100000"/>
              </a:lnSpc>
              <a:spcAft>
                <a:spcPts val="1500"/>
              </a:spcAft>
              <a:buClr>
                <a:srgbClr val="B5452E"/>
              </a:buClr>
              <a:buFont typeface="Arial" panose="020B0604020202020204" pitchFamily="34" charset="0"/>
              <a:buChar char="•"/>
            </a:pPr>
            <a:r>
              <a:rPr sz="1800" b="1" i="0">
                <a:solidFill>
                  <a:srgbClr val="15253A"/>
                </a:solidFill>
                <a:latin typeface="Calibri"/>
              </a:rPr>
              <a:t>Team Name (Registered on portal) –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8368" y="5897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6878"/>
                </a:solidFill>
                <a:latin typeface="Calibri"/>
              </a:rPr>
              <a:t>Problem statement by </a:t>
            </a:r>
            <a:r>
              <a:rPr sz="1100" b="1" i="0">
                <a:solidFill>
                  <a:srgbClr val="15253A"/>
                </a:solidFill>
                <a:latin typeface="Calibri"/>
              </a:rPr>
              <a:t>Egreen Quanta</a:t>
            </a:r>
            <a:r>
              <a:rPr sz="1100" b="0" i="0">
                <a:solidFill>
                  <a:srgbClr val="5A6878"/>
                </a:solidFill>
                <a:latin typeface="Calibri"/>
              </a:rPr>
              <a:t>  ·  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253A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914400"/>
          </a:xfrm>
        </p:spPr>
        <p:txBody>
          <a:bodyPr anchor="ctr"/>
          <a:lstStyle/>
          <a:p>
            <a:pPr eaLnBrk="1" hangingPunct="1" algn="ctr"/>
            <a:r>
              <a:rPr sz="3200" b="1" i="0">
                <a:solidFill>
                  <a:srgbClr val="15253A"/>
                </a:solidFill>
                <a:latin typeface="Times New Roman"/>
              </a:rPr>
              <a:t>Q-GREENFLEET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sz="1000" b="0" i="0">
                <a:solidFill>
                  <a:srgbClr val="FFFFFF"/>
                </a:solidFill>
                <a:latin typeface="Calibri"/>
              </a:rPr>
              <a:t>SIH 2026 · PS 26138 · Q-GreenFleet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5875">
            <a:solidFill>
              <a:srgbClr val="15253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>
                <a:solidFill>
                  <a:srgbClr val="15253A"/>
                </a:solidFill>
              </a:rPr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Oval 15361"/>
          <p:cNvSpPr/>
          <p:nvPr/>
        </p:nvSpPr>
        <p:spPr>
          <a:xfrm>
            <a:off x="429768" y="1207008"/>
            <a:ext cx="548640" cy="548640"/>
          </a:xfrm>
          <a:prstGeom prst="ellipse">
            <a:avLst/>
          </a:prstGeom>
          <a:noFill/>
          <a:ln w="12700">
            <a:solidFill>
              <a:srgbClr val="15253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363" name="Oval 15362"/>
          <p:cNvSpPr/>
          <p:nvPr/>
        </p:nvSpPr>
        <p:spPr>
          <a:xfrm>
            <a:off x="493776" y="1271016"/>
            <a:ext cx="420624" cy="420624"/>
          </a:xfrm>
          <a:prstGeom prst="ellipse">
            <a:avLst/>
          </a:prstGeom>
          <a:solidFill>
            <a:srgbClr val="1525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64" name="Picture 15363" descr="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25" y="1371965"/>
            <a:ext cx="218724" cy="218724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1115568" y="1216152"/>
            <a:ext cx="105430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5253A"/>
                </a:solidFill>
                <a:latin typeface="Calibri"/>
              </a:rPr>
              <a:t>Proposed Solution </a:t>
            </a:r>
            <a:r>
              <a:rPr sz="1300" b="0" i="0">
                <a:solidFill>
                  <a:srgbClr val="5A6878"/>
                </a:solidFill>
                <a:latin typeface="Calibri"/>
              </a:rPr>
              <a:t>(Describe your Idea/Solution/Prototype)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1115568" y="1527048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E2935"/>
                </a:solidFill>
                <a:latin typeface="Calibri"/>
              </a:rPr>
              <a:t>One decision engine that </a:t>
            </a:r>
            <a:r>
              <a:rPr sz="1300" b="1" i="0">
                <a:solidFill>
                  <a:srgbClr val="2E6B50"/>
                </a:solidFill>
                <a:latin typeface="Calibri"/>
              </a:rPr>
              <a:t>predicts every ship's fuel burn</a:t>
            </a:r>
            <a:r>
              <a:rPr sz="1300" b="0" i="0">
                <a:solidFill>
                  <a:srgbClr val="1E2935"/>
                </a:solidFill>
                <a:latin typeface="Calibri"/>
              </a:rPr>
              <a:t> and </a:t>
            </a:r>
            <a:r>
              <a:rPr sz="1300" b="1" i="0">
                <a:solidFill>
                  <a:srgbClr val="2E6B50"/>
                </a:solidFill>
                <a:latin typeface="Calibri"/>
              </a:rPr>
              <a:t>re-plans the whole fleet</a:t>
            </a:r>
            <a:r>
              <a:rPr sz="1300" b="0" i="0">
                <a:solidFill>
                  <a:srgbClr val="1E2935"/>
                </a:solidFill>
                <a:latin typeface="Calibri"/>
              </a:rPr>
              <a:t> (vessel mix, capacity, speed, fuel and shore power) for the lowest fuel, emissions and cost that still meet cargo demand, schedules and emission rules.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57200" y="212140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90">
                <a:solidFill>
                  <a:srgbClr val="2E6B50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2395728"/>
            <a:ext cx="3502152" cy="1243584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69" name="Oval 15368"/>
          <p:cNvSpPr/>
          <p:nvPr/>
        </p:nvSpPr>
        <p:spPr>
          <a:xfrm>
            <a:off x="612647" y="2551176"/>
            <a:ext cx="603504" cy="603504"/>
          </a:xfrm>
          <a:prstGeom prst="ellipse">
            <a:avLst/>
          </a:prstGeom>
          <a:noFill/>
          <a:ln w="12700">
            <a:solidFill>
              <a:srgbClr val="2E6B5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370" name="Oval 15369"/>
          <p:cNvSpPr/>
          <p:nvPr/>
        </p:nvSpPr>
        <p:spPr>
          <a:xfrm>
            <a:off x="676656" y="2615184"/>
            <a:ext cx="475488" cy="475488"/>
          </a:xfrm>
          <a:prstGeom prst="ellipse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71" name="Picture 15370" descr="pum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73" y="2729301"/>
            <a:ext cx="247253" cy="247253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1325880" y="2551176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spc="60">
                <a:solidFill>
                  <a:srgbClr val="2E6B50"/>
                </a:solidFill>
                <a:latin typeface="Calibri"/>
              </a:rPr>
              <a:t>1  PREDICT</a:t>
            </a:r>
            <a:r>
              <a:rPr sz="1100" b="0" i="0">
                <a:solidFill>
                  <a:srgbClr val="5A6878"/>
                </a:solidFill>
                <a:latin typeface="Calibri"/>
              </a:rPr>
              <a:t>   Q-PHYS model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325880" y="2852928"/>
            <a:ext cx="2496312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1E2935"/>
                </a:solidFill>
                <a:latin typeface="Calibri"/>
              </a:rPr>
              <a:t>Fuel in t/day for any ship from speed, load, weather and vessel type: physics + tensor-network ML, with a 90 % confidence band.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4041648" y="2907792"/>
            <a:ext cx="219456" cy="219456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5" name="Rounded Rectangle 15374"/>
          <p:cNvSpPr/>
          <p:nvPr/>
        </p:nvSpPr>
        <p:spPr>
          <a:xfrm>
            <a:off x="4343400" y="2395728"/>
            <a:ext cx="3502152" cy="1243584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6" name="Oval 15375"/>
          <p:cNvSpPr/>
          <p:nvPr/>
        </p:nvSpPr>
        <p:spPr>
          <a:xfrm>
            <a:off x="4498848" y="2551176"/>
            <a:ext cx="603504" cy="603504"/>
          </a:xfrm>
          <a:prstGeom prst="ellipse">
            <a:avLst/>
          </a:prstGeom>
          <a:noFill/>
          <a:ln w="12700">
            <a:solidFill>
              <a:srgbClr val="15253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377" name="Oval 15376"/>
          <p:cNvSpPr/>
          <p:nvPr/>
        </p:nvSpPr>
        <p:spPr>
          <a:xfrm>
            <a:off x="4562856" y="2615184"/>
            <a:ext cx="475488" cy="475488"/>
          </a:xfrm>
          <a:prstGeom prst="ellipse">
            <a:avLst/>
          </a:prstGeom>
          <a:solidFill>
            <a:srgbClr val="1525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78" name="Picture 15377" descr="rou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973" y="2729301"/>
            <a:ext cx="247253" cy="247253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5212080" y="2551176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spc="60">
                <a:solidFill>
                  <a:srgbClr val="15253A"/>
                </a:solidFill>
                <a:latin typeface="Calibri"/>
              </a:rPr>
              <a:t>2  OPTIMISE</a:t>
            </a:r>
            <a:r>
              <a:rPr sz="1100" b="0" i="0">
                <a:solidFill>
                  <a:srgbClr val="5A6878"/>
                </a:solidFill>
                <a:latin typeface="Calibri"/>
              </a:rPr>
              <a:t>   QMOEA-H engine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212080" y="2852928"/>
            <a:ext cx="2496312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1E2935"/>
                </a:solidFill>
                <a:latin typeface="Calibri"/>
              </a:rPr>
              <a:t>Chooses vessel mix, capacity, speed, fuel (VLSFO, LNG, methanol, ammonia, H₂) and shore power per route. Minimises fuel, emissions and cost.</a:t>
            </a:r>
          </a:p>
        </p:txBody>
      </p:sp>
      <p:sp>
        <p:nvSpPr>
          <p:cNvPr id="15381" name="Right Arrow 15380"/>
          <p:cNvSpPr/>
          <p:nvPr/>
        </p:nvSpPr>
        <p:spPr>
          <a:xfrm>
            <a:off x="7927848" y="2907792"/>
            <a:ext cx="219456" cy="219456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2" name="Rounded Rectangle 15381"/>
          <p:cNvSpPr/>
          <p:nvPr/>
        </p:nvSpPr>
        <p:spPr>
          <a:xfrm>
            <a:off x="8229600" y="2395728"/>
            <a:ext cx="3502152" cy="1243584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3" name="Oval 15382"/>
          <p:cNvSpPr/>
          <p:nvPr/>
        </p:nvSpPr>
        <p:spPr>
          <a:xfrm>
            <a:off x="8385048" y="2551176"/>
            <a:ext cx="603504" cy="603504"/>
          </a:xfrm>
          <a:prstGeom prst="ellipse">
            <a:avLst/>
          </a:prstGeom>
          <a:noFill/>
          <a:ln w="12700">
            <a:solidFill>
              <a:srgbClr val="B5452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384" name="Oval 15383"/>
          <p:cNvSpPr/>
          <p:nvPr/>
        </p:nvSpPr>
        <p:spPr>
          <a:xfrm>
            <a:off x="8449056" y="2615184"/>
            <a:ext cx="475488" cy="475488"/>
          </a:xfrm>
          <a:prstGeom prst="ellipse">
            <a:avLst/>
          </a:prstGeom>
          <a:solidFill>
            <a:srgbClr val="B545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85" name="Picture 15384" descr="dash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3173" y="2729301"/>
            <a:ext cx="247253" cy="247253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9098280" y="2551176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spc="60">
                <a:solidFill>
                  <a:srgbClr val="B5452E"/>
                </a:solidFill>
                <a:latin typeface="Calibri"/>
              </a:rPr>
              <a:t>3  DECIDE</a:t>
            </a:r>
            <a:r>
              <a:rPr sz="1100" b="0" i="0">
                <a:solidFill>
                  <a:srgbClr val="5A6878"/>
                </a:solidFill>
                <a:latin typeface="Calibri"/>
              </a:rPr>
              <a:t>   Dashboard + report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9098280" y="2852928"/>
            <a:ext cx="2496312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1E2935"/>
                </a:solidFill>
                <a:latin typeface="Calibri"/>
              </a:rPr>
              <a:t>Trade-off curve, a recommended plan explained in plain words, CII / FuelEU / ETS checks, scenario lab and a one-click report.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457200" y="3822191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90">
                <a:solidFill>
                  <a:srgbClr val="2E6B50"/>
                </a:solidFill>
                <a:latin typeface="Calibri"/>
              </a:rPr>
              <a:t>HOW IT ADDRESSES THE PROBLEM</a:t>
            </a:r>
          </a:p>
        </p:txBody>
      </p:sp>
      <p:pic>
        <p:nvPicPr>
          <p:cNvPr id="15389" name="Picture 15388" descr="smoke_hu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187951"/>
            <a:ext cx="274320" cy="274320"/>
          </a:xfrm>
          <a:prstGeom prst="rect">
            <a:avLst/>
          </a:prstGeom>
        </p:spPr>
      </p:pic>
      <p:sp>
        <p:nvSpPr>
          <p:cNvPr id="15390" name="TextBox 15389"/>
          <p:cNvSpPr txBox="1"/>
          <p:nvPr/>
        </p:nvSpPr>
        <p:spPr>
          <a:xfrm>
            <a:off x="841247" y="4133087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Shipping emits ~2.9 % of global GHG; fleets are still planned by rules of thumb</a:t>
            </a:r>
          </a:p>
        </p:txBody>
      </p:sp>
      <p:sp>
        <p:nvSpPr>
          <p:cNvPr id="15391" name="Right Arrow 15390"/>
          <p:cNvSpPr/>
          <p:nvPr/>
        </p:nvSpPr>
        <p:spPr>
          <a:xfrm>
            <a:off x="3621024" y="4297680"/>
            <a:ext cx="274320" cy="155448"/>
          </a:xfrm>
          <a:prstGeom prst="rightArrow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92" name="TextBox 15391"/>
          <p:cNvSpPr txBox="1"/>
          <p:nvPr/>
        </p:nvSpPr>
        <p:spPr>
          <a:xfrm>
            <a:off x="3986783" y="4133087"/>
            <a:ext cx="20482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00" b="1" i="0">
                <a:solidFill>
                  <a:srgbClr val="2E6B50"/>
                </a:solidFill>
                <a:latin typeface="Calibri"/>
              </a:rPr>
              <a:t>Ship-level fuel model, 3.3 % error</a:t>
            </a:r>
          </a:p>
        </p:txBody>
      </p:sp>
      <p:pic>
        <p:nvPicPr>
          <p:cNvPr id="15393" name="Picture 15392" descr="pump_hu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700016"/>
            <a:ext cx="274320" cy="274320"/>
          </a:xfrm>
          <a:prstGeom prst="rect">
            <a:avLst/>
          </a:prstGeom>
        </p:spPr>
      </p:pic>
      <p:sp>
        <p:nvSpPr>
          <p:cNvPr id="15394" name="TextBox 15393"/>
          <p:cNvSpPr txBox="1"/>
          <p:nvPr/>
        </p:nvSpPr>
        <p:spPr>
          <a:xfrm>
            <a:off x="841247" y="464515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New fuels change cost, range and true well-to-wake emissions</a:t>
            </a:r>
          </a:p>
        </p:txBody>
      </p:sp>
      <p:sp>
        <p:nvSpPr>
          <p:cNvPr id="15395" name="Right Arrow 15394"/>
          <p:cNvSpPr/>
          <p:nvPr/>
        </p:nvSpPr>
        <p:spPr>
          <a:xfrm>
            <a:off x="3621024" y="4809744"/>
            <a:ext cx="274320" cy="155448"/>
          </a:xfrm>
          <a:prstGeom prst="rightArrow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96" name="TextBox 15395"/>
          <p:cNvSpPr txBox="1"/>
          <p:nvPr/>
        </p:nvSpPr>
        <p:spPr>
          <a:xfrm>
            <a:off x="3986783" y="4645152"/>
            <a:ext cx="20482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00" b="1" i="0">
                <a:solidFill>
                  <a:srgbClr val="2E6B50"/>
                </a:solidFill>
                <a:latin typeface="Calibri"/>
              </a:rPr>
              <a:t>14 fuels &amp; pathways scored well-to-wake</a:t>
            </a:r>
          </a:p>
        </p:txBody>
      </p:sp>
      <p:pic>
        <p:nvPicPr>
          <p:cNvPr id="15397" name="Picture 15396" descr="compliance_hu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212079"/>
            <a:ext cx="274320" cy="274320"/>
          </a:xfrm>
          <a:prstGeom prst="rect">
            <a:avLst/>
          </a:prstGeom>
        </p:spPr>
      </p:pic>
      <p:sp>
        <p:nvSpPr>
          <p:cNvPr id="15398" name="TextBox 15397"/>
          <p:cNvSpPr txBox="1"/>
          <p:nvPr/>
        </p:nvSpPr>
        <p:spPr>
          <a:xfrm>
            <a:off x="841247" y="5157216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IMO CII, FuelEU Maritime and EU ETS tighten every year to 2050</a:t>
            </a:r>
          </a:p>
        </p:txBody>
      </p:sp>
      <p:sp>
        <p:nvSpPr>
          <p:cNvPr id="15399" name="Right Arrow 15398"/>
          <p:cNvSpPr/>
          <p:nvPr/>
        </p:nvSpPr>
        <p:spPr>
          <a:xfrm>
            <a:off x="3621024" y="5321808"/>
            <a:ext cx="274320" cy="155448"/>
          </a:xfrm>
          <a:prstGeom prst="rightArrow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00" name="TextBox 15399"/>
          <p:cNvSpPr txBox="1"/>
          <p:nvPr/>
        </p:nvSpPr>
        <p:spPr>
          <a:xfrm>
            <a:off x="3986783" y="5157216"/>
            <a:ext cx="20482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00" b="1" i="0">
                <a:solidFill>
                  <a:srgbClr val="2E6B50"/>
                </a:solidFill>
                <a:latin typeface="Calibri"/>
              </a:rPr>
              <a:t>Rules built into the optimiser, 2025–2050</a:t>
            </a:r>
          </a:p>
        </p:txBody>
      </p:sp>
      <p:pic>
        <p:nvPicPr>
          <p:cNvPr id="15401" name="Picture 15400" descr="network_hul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724143"/>
            <a:ext cx="274320" cy="274320"/>
          </a:xfrm>
          <a:prstGeom prst="rect">
            <a:avLst/>
          </a:prstGeom>
        </p:spPr>
      </p:pic>
      <p:sp>
        <p:nvSpPr>
          <p:cNvPr id="15402" name="TextBox 15401"/>
          <p:cNvSpPr txBox="1"/>
          <p:nvPr/>
        </p:nvSpPr>
        <p:spPr>
          <a:xfrm>
            <a:off x="841247" y="5669279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~10²² possible fleet plans for just 12 services, before choosing speeds</a:t>
            </a:r>
          </a:p>
        </p:txBody>
      </p:sp>
      <p:sp>
        <p:nvSpPr>
          <p:cNvPr id="15403" name="Right Arrow 15402"/>
          <p:cNvSpPr/>
          <p:nvPr/>
        </p:nvSpPr>
        <p:spPr>
          <a:xfrm>
            <a:off x="3621024" y="5833872"/>
            <a:ext cx="274320" cy="155448"/>
          </a:xfrm>
          <a:prstGeom prst="rightArrow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04" name="TextBox 15403"/>
          <p:cNvSpPr txBox="1"/>
          <p:nvPr/>
        </p:nvSpPr>
        <p:spPr>
          <a:xfrm>
            <a:off x="3986783" y="5669279"/>
            <a:ext cx="20482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00" b="1" i="0">
                <a:solidFill>
                  <a:srgbClr val="2E6B50"/>
                </a:solidFill>
                <a:latin typeface="Calibri"/>
              </a:rPr>
              <a:t>Quantum-inspired search, checked vs exact optimum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6355079" y="3822191"/>
            <a:ext cx="5376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90">
                <a:solidFill>
                  <a:srgbClr val="2E6B50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406" name="Rounded Rectangle 15405"/>
          <p:cNvSpPr/>
          <p:nvPr/>
        </p:nvSpPr>
        <p:spPr>
          <a:xfrm>
            <a:off x="6355079" y="4133087"/>
            <a:ext cx="2615184" cy="969264"/>
          </a:xfrm>
          <a:prstGeom prst="roundRect">
            <a:avLst>
              <a:gd name="adj" fmla="val 10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07" name="Oval 15406"/>
          <p:cNvSpPr/>
          <p:nvPr/>
        </p:nvSpPr>
        <p:spPr>
          <a:xfrm>
            <a:off x="6492239" y="4288536"/>
            <a:ext cx="347472" cy="347472"/>
          </a:xfrm>
          <a:prstGeom prst="ellipse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08" name="Picture 15407" descr="atom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5209" y="4361505"/>
            <a:ext cx="201533" cy="201533"/>
          </a:xfrm>
          <a:prstGeom prst="rect">
            <a:avLst/>
          </a:prstGeom>
        </p:spPr>
      </p:pic>
      <p:sp>
        <p:nvSpPr>
          <p:cNvPr id="15409" name="TextBox 15408"/>
          <p:cNvSpPr txBox="1"/>
          <p:nvPr/>
        </p:nvSpPr>
        <p:spPr>
          <a:xfrm>
            <a:off x="6940295" y="4279392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Tensor-network fuel model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6940295" y="4535424"/>
            <a:ext cx="19385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Quantum many-body maths (MPS) on a physics prior; certified monotone in speed</a:t>
            </a:r>
          </a:p>
        </p:txBody>
      </p:sp>
      <p:sp>
        <p:nvSpPr>
          <p:cNvPr id="15411" name="Rounded Rectangle 15410"/>
          <p:cNvSpPr/>
          <p:nvPr/>
        </p:nvSpPr>
        <p:spPr>
          <a:xfrm>
            <a:off x="9116567" y="4133087"/>
            <a:ext cx="2615184" cy="969264"/>
          </a:xfrm>
          <a:prstGeom prst="roundRect">
            <a:avLst>
              <a:gd name="adj" fmla="val 10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2" name="Oval 15411"/>
          <p:cNvSpPr/>
          <p:nvPr/>
        </p:nvSpPr>
        <p:spPr>
          <a:xfrm>
            <a:off x="9253728" y="4288536"/>
            <a:ext cx="347472" cy="347472"/>
          </a:xfrm>
          <a:prstGeom prst="ellipse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13" name="Picture 15412" descr="flow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697" y="4361505"/>
            <a:ext cx="201533" cy="201533"/>
          </a:xfrm>
          <a:prstGeom prst="rect">
            <a:avLst/>
          </a:prstGeom>
        </p:spPr>
      </p:pic>
      <p:sp>
        <p:nvSpPr>
          <p:cNvPr id="15414" name="TextBox 15413"/>
          <p:cNvSpPr txBox="1"/>
          <p:nvPr/>
        </p:nvSpPr>
        <p:spPr>
          <a:xfrm>
            <a:off x="9701784" y="4279392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QMOEA-H optimiser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9701784" y="4535424"/>
            <a:ext cx="19385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Qudit registers, superposition crossover and δ-well tunnelling for mixed decisions</a:t>
            </a:r>
          </a:p>
        </p:txBody>
      </p:sp>
      <p:sp>
        <p:nvSpPr>
          <p:cNvPr id="15416" name="Rounded Rectangle 15415"/>
          <p:cNvSpPr/>
          <p:nvPr/>
        </p:nvSpPr>
        <p:spPr>
          <a:xfrm>
            <a:off x="6355079" y="5248655"/>
            <a:ext cx="2615184" cy="969264"/>
          </a:xfrm>
          <a:prstGeom prst="roundRect">
            <a:avLst>
              <a:gd name="adj" fmla="val 10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7" name="Oval 15416"/>
          <p:cNvSpPr/>
          <p:nvPr/>
        </p:nvSpPr>
        <p:spPr>
          <a:xfrm>
            <a:off x="6492239" y="5404103"/>
            <a:ext cx="347472" cy="347472"/>
          </a:xfrm>
          <a:prstGeom prst="ellipse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18" name="Picture 15417" descr="microchip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5209" y="5477073"/>
            <a:ext cx="201533" cy="201533"/>
          </a:xfrm>
          <a:prstGeom prst="rect">
            <a:avLst/>
          </a:prstGeom>
        </p:spPr>
      </p:pic>
      <p:sp>
        <p:nvSpPr>
          <p:cNvPr id="15419" name="TextBox 15418"/>
          <p:cNvSpPr txBox="1"/>
          <p:nvPr/>
        </p:nvSpPr>
        <p:spPr>
          <a:xfrm>
            <a:off x="6940295" y="5394959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QUBO + quantum annealing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6940295" y="5650992"/>
            <a:ext cx="19385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Path-integral simulated annealer today; the same QUBO runs on D-Wave</a:t>
            </a:r>
          </a:p>
        </p:txBody>
      </p:sp>
      <p:sp>
        <p:nvSpPr>
          <p:cNvPr id="15421" name="Rounded Rectangle 15420"/>
          <p:cNvSpPr/>
          <p:nvPr/>
        </p:nvSpPr>
        <p:spPr>
          <a:xfrm>
            <a:off x="9116567" y="5248655"/>
            <a:ext cx="2615184" cy="969264"/>
          </a:xfrm>
          <a:prstGeom prst="roundRect">
            <a:avLst>
              <a:gd name="adj" fmla="val 10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22" name="Oval 15421"/>
          <p:cNvSpPr/>
          <p:nvPr/>
        </p:nvSpPr>
        <p:spPr>
          <a:xfrm>
            <a:off x="9253728" y="5404103"/>
            <a:ext cx="347472" cy="347472"/>
          </a:xfrm>
          <a:prstGeom prst="ellipse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23" name="Picture 15422" descr="target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6697" y="5477073"/>
            <a:ext cx="201533" cy="201533"/>
          </a:xfrm>
          <a:prstGeom prst="rect">
            <a:avLst/>
          </a:prstGeom>
        </p:spPr>
      </p:pic>
      <p:sp>
        <p:nvSpPr>
          <p:cNvPr id="15424" name="TextBox 15423"/>
          <p:cNvSpPr txBox="1"/>
          <p:nvPr/>
        </p:nvSpPr>
        <p:spPr>
          <a:xfrm>
            <a:off x="9701784" y="5394959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Proven, not claimed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9701784" y="5650992"/>
            <a:ext cx="19385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Benchmarked vs NSGA-II/III, MOPSO and an exact MILP (1–3 % gap)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253A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914400"/>
          </a:xfrm>
        </p:spPr>
        <p:txBody>
          <a:bodyPr anchor="ctr"/>
          <a:lstStyle/>
          <a:p>
            <a:pPr eaLnBrk="1" hangingPunct="1" algn="ctr"/>
            <a:r>
              <a:rPr sz="3200" b="1" i="0">
                <a:solidFill>
                  <a:srgbClr val="15253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sz="1000" b="0" i="0">
                <a:solidFill>
                  <a:srgbClr val="FFFFFF"/>
                </a:solidFill>
                <a:latin typeface="Calibri"/>
              </a:rPr>
              <a:t>SIH 2026 · PS 26138 · Q-GreenFleet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5875">
            <a:solidFill>
              <a:srgbClr val="15253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>
                <a:solidFill>
                  <a:srgbClr val="15253A"/>
                </a:solidFill>
              </a:rPr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887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5253A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463040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A6878"/>
                </a:solidFill>
                <a:latin typeface="Calibri"/>
              </a:rPr>
              <a:t>languages · frameworks · hardware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3" name="Picture 17412" descr="pyth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60704" y="1828800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Core &amp; data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60704" y="2066543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Python 3.11 · NumPy · pandas · searoute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24734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7" name="Picture 17416" descr="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64892"/>
            <a:ext cx="274320" cy="27432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1060704" y="2455164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Prediction (ML)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60704" y="2692908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LightGBM · scikit-learn · own MPS tensor network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57200" y="30998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525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1" name="Picture 17420" descr="ato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91256"/>
            <a:ext cx="274320" cy="274320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1060704" y="3081528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Quantum-inspired &amp; exact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60704" y="3319272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pymoo · PuLP/CBC MILP · OpenJij · dimod (D-Wave)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7200" y="37261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5" name="Picture 17424" descr="api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17620"/>
            <a:ext cx="274320" cy="27432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060704" y="3707891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Backend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060704" y="3945636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FastAPI · Uvicorn · live jobs over SSE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57200" y="43525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9" name="Picture 17428" descr="reac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443984"/>
            <a:ext cx="274320" cy="274320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1060704" y="4334256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Frontend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060704" y="457200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React · TypeScript · Vite · Plotly · Leaflet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57200" y="49789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525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3" name="Picture 17432" descr="dock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070348"/>
            <a:ext cx="274320" cy="274320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1060704" y="4960620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DevOps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060704" y="5198364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Docker · GitHub Actions CI · pytest · Playwright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57200" y="56052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545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7" name="Picture 17436" descr="microchi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5696712"/>
            <a:ext cx="274320" cy="27432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1060704" y="5586984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5253A"/>
                </a:solidFill>
                <a:latin typeface="Calibri"/>
              </a:rPr>
              <a:t>Hardware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060704" y="5824728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Any laptop CPU. No GPU, no qubits needed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434840" y="1188720"/>
            <a:ext cx="72969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5253A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434840" y="1463040"/>
            <a:ext cx="72969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A6878"/>
                </a:solidFill>
                <a:latin typeface="Calibri"/>
              </a:rPr>
              <a:t>flow chart · working prototype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434840" y="1810512"/>
            <a:ext cx="2176272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3" name="Oval 17442"/>
          <p:cNvSpPr/>
          <p:nvPr/>
        </p:nvSpPr>
        <p:spPr>
          <a:xfrm>
            <a:off x="4581144" y="1956815"/>
            <a:ext cx="329184" cy="329184"/>
          </a:xfrm>
          <a:prstGeom prst="ellipse">
            <a:avLst/>
          </a:prstGeom>
          <a:solidFill>
            <a:srgbClr val="2F5D7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4" name="Picture 17443" descr="databas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0272" y="2025944"/>
            <a:ext cx="190926" cy="190926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5001768" y="193852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5452E"/>
                </a:solidFill>
                <a:latin typeface="Calibri"/>
              </a:rPr>
              <a:t>1  </a:t>
            </a:r>
            <a:r>
              <a:rPr sz="1200" b="1" i="0">
                <a:solidFill>
                  <a:srgbClr val="15253A"/>
                </a:solidFill>
                <a:latin typeface="Calibri"/>
              </a:rPr>
              <a:t>Data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581144" y="2377440"/>
            <a:ext cx="1901952" cy="475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 i="0">
                <a:solidFill>
                  <a:srgbClr val="1E2935"/>
                </a:solidFill>
                <a:latin typeface="Calibri"/>
              </a:rPr>
              <a:t>FuelCast · EU MRV · operator logs · physics-based synthetic fleet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995160" y="1810512"/>
            <a:ext cx="2176272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8" name="Oval 17447"/>
          <p:cNvSpPr/>
          <p:nvPr/>
        </p:nvSpPr>
        <p:spPr>
          <a:xfrm>
            <a:off x="7141464" y="1956815"/>
            <a:ext cx="329184" cy="329184"/>
          </a:xfrm>
          <a:prstGeom prst="ellipse">
            <a:avLst/>
          </a:prstGeom>
          <a:solidFill>
            <a:srgbClr val="2F5D7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9" name="Picture 17448" descr="flask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92" y="2025944"/>
            <a:ext cx="190926" cy="190926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7562088" y="193852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5452E"/>
                </a:solidFill>
                <a:latin typeface="Calibri"/>
              </a:rPr>
              <a:t>2  </a:t>
            </a:r>
            <a:r>
              <a:rPr sz="1200" b="1" i="0">
                <a:solidFill>
                  <a:srgbClr val="15253A"/>
                </a:solidFill>
                <a:latin typeface="Calibri"/>
              </a:rPr>
              <a:t>Physics &amp; rules engine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141464" y="2377440"/>
            <a:ext cx="1901952" cy="475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 i="0">
                <a:solidFill>
                  <a:srgbClr val="1E2935"/>
                </a:solidFill>
                <a:latin typeface="Calibri"/>
              </a:rPr>
              <a:t>IMO GHG4 power · Kwon weather · SFOC · well-to-wake · CII / FuelEU / ETS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9555480" y="1810512"/>
            <a:ext cx="2176272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3" name="Oval 17452"/>
          <p:cNvSpPr/>
          <p:nvPr/>
        </p:nvSpPr>
        <p:spPr>
          <a:xfrm>
            <a:off x="9701784" y="1956815"/>
            <a:ext cx="329184" cy="329184"/>
          </a:xfrm>
          <a:prstGeom prst="ellipse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4" name="Picture 17453" descr="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912" y="2025944"/>
            <a:ext cx="190926" cy="190926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10122407" y="193852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5452E"/>
                </a:solidFill>
                <a:latin typeface="Calibri"/>
              </a:rPr>
              <a:t>3  </a:t>
            </a:r>
            <a:r>
              <a:rPr sz="1200" b="1" i="0">
                <a:solidFill>
                  <a:srgbClr val="15253A"/>
                </a:solidFill>
                <a:latin typeface="Calibri"/>
              </a:rPr>
              <a:t>Q-PHYS prediction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9701784" y="2377440"/>
            <a:ext cx="1901952" cy="475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 i="0">
                <a:solidFill>
                  <a:srgbClr val="1E2935"/>
                </a:solidFill>
                <a:latin typeface="Calibri"/>
              </a:rPr>
              <a:t>QIEA features ▸ QPSO-tuned monotone GBM ▸ MPS tensor net ▸ conformal band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9555480" y="3218688"/>
            <a:ext cx="2176272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8" name="Oval 17457"/>
          <p:cNvSpPr/>
          <p:nvPr/>
        </p:nvSpPr>
        <p:spPr>
          <a:xfrm>
            <a:off x="9701784" y="3364991"/>
            <a:ext cx="329184" cy="329184"/>
          </a:xfrm>
          <a:prstGeom prst="ellipse">
            <a:avLst/>
          </a:prstGeom>
          <a:solidFill>
            <a:srgbClr val="1525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9" name="Picture 17458" descr="ato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0912" y="3434120"/>
            <a:ext cx="190926" cy="190926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10122407" y="3346704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5452E"/>
                </a:solidFill>
                <a:latin typeface="Calibri"/>
              </a:rPr>
              <a:t>4  </a:t>
            </a:r>
            <a:r>
              <a:rPr sz="1200" b="1" i="0">
                <a:solidFill>
                  <a:srgbClr val="15253A"/>
                </a:solidFill>
                <a:latin typeface="Calibri"/>
              </a:rPr>
              <a:t>Fleet optimisation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9701784" y="3785615"/>
            <a:ext cx="1901952" cy="475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 i="0">
                <a:solidFill>
                  <a:srgbClr val="1E2935"/>
                </a:solidFill>
                <a:latin typeface="Calibri"/>
              </a:rPr>
              <a:t>QMOEA-H Pareto search · exact MILP check · QUBO + simulated quantum annealing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6995160" y="3218688"/>
            <a:ext cx="2176272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3" name="Oval 17462"/>
          <p:cNvSpPr/>
          <p:nvPr/>
        </p:nvSpPr>
        <p:spPr>
          <a:xfrm>
            <a:off x="7141464" y="3364991"/>
            <a:ext cx="329184" cy="329184"/>
          </a:xfrm>
          <a:prstGeom prst="ellipse">
            <a:avLst/>
          </a:prstGeom>
          <a:solidFill>
            <a:srgbClr val="1525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4" name="Picture 17463" descr="chart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0592" y="3434120"/>
            <a:ext cx="190926" cy="190926"/>
          </a:xfrm>
          <a:prstGeom prst="rect">
            <a:avLst/>
          </a:prstGeom>
        </p:spPr>
      </p:pic>
      <p:sp>
        <p:nvSpPr>
          <p:cNvPr id="17465" name="TextBox 17464"/>
          <p:cNvSpPr txBox="1"/>
          <p:nvPr/>
        </p:nvSpPr>
        <p:spPr>
          <a:xfrm>
            <a:off x="7562088" y="3346704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5452E"/>
                </a:solidFill>
                <a:latin typeface="Calibri"/>
              </a:rPr>
              <a:t>5  </a:t>
            </a:r>
            <a:r>
              <a:rPr sz="1200" b="1" i="0">
                <a:solidFill>
                  <a:srgbClr val="15253A"/>
                </a:solidFill>
                <a:latin typeface="Calibri"/>
              </a:rPr>
              <a:t>Decision analytics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7141464" y="3785615"/>
            <a:ext cx="1901952" cy="475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 i="0">
                <a:solidFill>
                  <a:srgbClr val="1E2935"/>
                </a:solidFill>
                <a:latin typeface="Calibri"/>
              </a:rPr>
              <a:t>Knee-point plan · plain-language why · Monte Carlo risk · MACC · 2025–2050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4434840" y="3218688"/>
            <a:ext cx="2176272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8" name="Oval 17467"/>
          <p:cNvSpPr/>
          <p:nvPr/>
        </p:nvSpPr>
        <p:spPr>
          <a:xfrm>
            <a:off x="4581144" y="3364991"/>
            <a:ext cx="329184" cy="329184"/>
          </a:xfrm>
          <a:prstGeom prst="ellipse">
            <a:avLst/>
          </a:prstGeom>
          <a:solidFill>
            <a:srgbClr val="B545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9" name="Picture 17468" descr="dashboard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50272" y="3434120"/>
            <a:ext cx="190926" cy="190926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5001768" y="3346704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5452E"/>
                </a:solidFill>
                <a:latin typeface="Calibri"/>
              </a:rPr>
              <a:t>6  </a:t>
            </a:r>
            <a:r>
              <a:rPr sz="1200" b="1" i="0">
                <a:solidFill>
                  <a:srgbClr val="15253A"/>
                </a:solidFill>
                <a:latin typeface="Calibri"/>
              </a:rPr>
              <a:t>Platform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4581144" y="3785615"/>
            <a:ext cx="1901952" cy="475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 i="0">
                <a:solidFill>
                  <a:srgbClr val="1E2935"/>
                </a:solidFill>
                <a:latin typeface="Calibri"/>
              </a:rPr>
              <a:t>FastAPI ▸ React dashboard ▸ maps &amp; emission profiles ▸ report</a:t>
            </a:r>
          </a:p>
        </p:txBody>
      </p:sp>
      <p:sp>
        <p:nvSpPr>
          <p:cNvPr id="17472" name="Right Arrow 17471"/>
          <p:cNvSpPr/>
          <p:nvPr/>
        </p:nvSpPr>
        <p:spPr>
          <a:xfrm>
            <a:off x="6684264" y="2249424"/>
            <a:ext cx="237744" cy="201168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3" name="Right Arrow 17472"/>
          <p:cNvSpPr/>
          <p:nvPr/>
        </p:nvSpPr>
        <p:spPr>
          <a:xfrm>
            <a:off x="9244584" y="2249424"/>
            <a:ext cx="237744" cy="201168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4" name="Down Arrow 17473"/>
          <p:cNvSpPr/>
          <p:nvPr/>
        </p:nvSpPr>
        <p:spPr>
          <a:xfrm>
            <a:off x="10543032" y="2944368"/>
            <a:ext cx="201168" cy="219456"/>
          </a:xfrm>
          <a:prstGeom prst="down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5" name="Left Arrow 17474"/>
          <p:cNvSpPr/>
          <p:nvPr/>
        </p:nvSpPr>
        <p:spPr>
          <a:xfrm>
            <a:off x="9244584" y="3657600"/>
            <a:ext cx="237744" cy="201168"/>
          </a:xfrm>
          <a:prstGeom prst="lef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6" name="Left Arrow 17475"/>
          <p:cNvSpPr/>
          <p:nvPr/>
        </p:nvSpPr>
        <p:spPr>
          <a:xfrm>
            <a:off x="6684264" y="3657600"/>
            <a:ext cx="237744" cy="201168"/>
          </a:xfrm>
          <a:prstGeom prst="lef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7" name="Picture 17476" descr="proto_ma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4840" y="4572000"/>
            <a:ext cx="4160520" cy="1726326"/>
          </a:xfrm>
          <a:prstGeom prst="rect">
            <a:avLst/>
          </a:prstGeom>
          <a:ln w="9525">
            <a:solidFill>
              <a:srgbClr val="C9D2DA"/>
            </a:solidFill>
          </a:ln>
        </p:spPr>
      </p:pic>
      <p:sp>
        <p:nvSpPr>
          <p:cNvPr id="17478" name="TextBox 17477"/>
          <p:cNvSpPr txBox="1"/>
          <p:nvPr/>
        </p:nvSpPr>
        <p:spPr>
          <a:xfrm>
            <a:off x="8869680" y="4572000"/>
            <a:ext cx="28620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90">
                <a:solidFill>
                  <a:srgbClr val="B5452E"/>
                </a:solidFill>
                <a:latin typeface="Calibri"/>
              </a:rPr>
              <a:t>WORKING PROTOTYPE</a:t>
            </a:r>
          </a:p>
        </p:txBody>
      </p:sp>
      <p:pic>
        <p:nvPicPr>
          <p:cNvPr id="17479" name="Picture 17478" descr="check_kel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9680" y="4873752"/>
            <a:ext cx="182880" cy="182880"/>
          </a:xfrm>
          <a:prstGeom prst="rect">
            <a:avLst/>
          </a:prstGeom>
        </p:spPr>
      </p:pic>
      <p:sp>
        <p:nvSpPr>
          <p:cNvPr id="17480" name="TextBox 17479"/>
          <p:cNvSpPr txBox="1"/>
          <p:nvPr/>
        </p:nvSpPr>
        <p:spPr>
          <a:xfrm>
            <a:off x="9144000" y="4846320"/>
            <a:ext cx="25877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Built and running today (India &amp; EU networks)</a:t>
            </a:r>
          </a:p>
        </p:txBody>
      </p:sp>
      <p:pic>
        <p:nvPicPr>
          <p:cNvPr id="17481" name="Picture 17480" descr="check_kel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9680" y="5148072"/>
            <a:ext cx="182880" cy="182880"/>
          </a:xfrm>
          <a:prstGeom prst="rect">
            <a:avLst/>
          </a:prstGeom>
        </p:spPr>
      </p:pic>
      <p:sp>
        <p:nvSpPr>
          <p:cNvPr id="17482" name="TextBox 17481"/>
          <p:cNvSpPr txBox="1"/>
          <p:nvPr/>
        </p:nvSpPr>
        <p:spPr>
          <a:xfrm>
            <a:off x="9144000" y="5120640"/>
            <a:ext cx="25877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Live Pareto front, fleet map, emission profiles</a:t>
            </a:r>
          </a:p>
        </p:txBody>
      </p:sp>
      <p:pic>
        <p:nvPicPr>
          <p:cNvPr id="17483" name="Picture 17482" descr="check_kel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9680" y="5422392"/>
            <a:ext cx="182880" cy="182880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9144000" y="5394959"/>
            <a:ext cx="25877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71 automated tests · CI green</a:t>
            </a:r>
          </a:p>
        </p:txBody>
      </p:sp>
      <p:pic>
        <p:nvPicPr>
          <p:cNvPr id="17485" name="Picture 17484" descr="check_kel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9680" y="5696712"/>
            <a:ext cx="182880" cy="182880"/>
          </a:xfrm>
          <a:prstGeom prst="rect">
            <a:avLst/>
          </a:prstGeom>
        </p:spPr>
      </p:pic>
      <p:sp>
        <p:nvSpPr>
          <p:cNvPr id="17486" name="TextBox 17485"/>
          <p:cNvSpPr txBox="1"/>
          <p:nvPr/>
        </p:nvSpPr>
        <p:spPr>
          <a:xfrm>
            <a:off x="9144000" y="5669279"/>
            <a:ext cx="25877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~55,000 fleet plans evaluated per second</a:t>
            </a:r>
          </a:p>
        </p:txBody>
      </p:sp>
      <p:pic>
        <p:nvPicPr>
          <p:cNvPr id="17487" name="Picture 17486" descr="check_kel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9680" y="5971031"/>
            <a:ext cx="182880" cy="182880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9144000" y="5943599"/>
            <a:ext cx="25877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One command: docker compose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253A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914400"/>
          </a:xfrm>
        </p:spPr>
        <p:txBody>
          <a:bodyPr anchor="ctr"/>
          <a:lstStyle/>
          <a:p>
            <a:pPr eaLnBrk="1" hangingPunct="1" algn="ctr"/>
            <a:r>
              <a:rPr sz="3200" b="1" i="0">
                <a:solidFill>
                  <a:srgbClr val="15253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solidFill>
                  <a:srgbClr val="FFFFFF"/>
                </a:solidFill>
                <a:latin typeface="Calibri"/>
              </a:rPr>
              <a:t>SIH 2026 · PS 26138 · Q-GreenFleet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5875">
            <a:solidFill>
              <a:srgbClr val="15253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>
                <a:solidFill>
                  <a:srgbClr val="15253A"/>
                </a:solidFill>
              </a:rPr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88720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90">
                <a:solidFill>
                  <a:srgbClr val="15253A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481328"/>
            <a:ext cx="2093976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621792" y="153619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6B50"/>
                </a:solidFill>
                <a:latin typeface="Cambria"/>
              </a:rPr>
              <a:t>3.3 %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2048256"/>
            <a:ext cx="181965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fuel prediction error (MAPE) on held-out voyages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752344" y="1481328"/>
            <a:ext cx="2093976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2916936" y="153619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5253A"/>
                </a:solidFill>
                <a:latin typeface="Cambria"/>
              </a:rPr>
              <a:t>55k/s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916936" y="2048256"/>
            <a:ext cx="181965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fleet plans evaluated per second on an ordinary CPU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47488" y="1481328"/>
            <a:ext cx="2093976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5212080" y="153619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5253A"/>
                </a:solidFill>
                <a:latin typeface="Cambria"/>
              </a:rPr>
              <a:t>1.4 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212080" y="2048256"/>
            <a:ext cx="181965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to solve the India network exactly (MILP), our accuracy yardstick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342632" y="1481328"/>
            <a:ext cx="2093976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7507224" y="153619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5253A"/>
                </a:solidFill>
                <a:latin typeface="Cambria"/>
              </a:rPr>
              <a:t>71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507224" y="2048256"/>
            <a:ext cx="181965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automated tests, CI green, one-command Docker run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637776" y="1481328"/>
            <a:ext cx="2093976" cy="1078992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9802368" y="1536192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B5452E"/>
                </a:solidFill>
                <a:latin typeface="Cambria"/>
              </a:rPr>
              <a:t>0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802368" y="2048256"/>
            <a:ext cx="181965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GPUs or qubits needed today; D-Wave-ready later</a:t>
            </a:r>
          </a:p>
        </p:txBody>
      </p:sp>
      <p:pic>
        <p:nvPicPr>
          <p:cNvPr id="17426" name="Picture 17425" descr="warning_h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43200"/>
            <a:ext cx="237744" cy="237744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786384" y="2752344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90">
                <a:solidFill>
                  <a:srgbClr val="B5452E"/>
                </a:solidFill>
                <a:latin typeface="Calibri"/>
              </a:rPr>
              <a:t>POTENTIAL CHALLENGES AND RISKS</a:t>
            </a:r>
          </a:p>
        </p:txBody>
      </p:sp>
      <p:pic>
        <p:nvPicPr>
          <p:cNvPr id="17428" name="Picture 17427" descr="shield_ke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2743200"/>
            <a:ext cx="237744" cy="23774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6245352" y="2752344"/>
            <a:ext cx="5815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90">
                <a:solidFill>
                  <a:srgbClr val="2E6B50"/>
                </a:solidFill>
                <a:latin typeface="Calibri"/>
              </a:rPr>
              <a:t>STRATEGIES FOR OVERCOMING THESE CHALLENGES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3108960"/>
            <a:ext cx="4892040" cy="438912"/>
          </a:xfrm>
          <a:prstGeom prst="roundRect">
            <a:avLst>
              <a:gd name="adj" fmla="val 14000"/>
            </a:avLst>
          </a:prstGeom>
          <a:solidFill>
            <a:srgbClr val="F7E6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621792" y="3108960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Little real data for LNG, ammonia and H₂ ships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5513831" y="3236975"/>
            <a:ext cx="274320" cy="1828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3" name="Rounded Rectangle 17432"/>
          <p:cNvSpPr/>
          <p:nvPr/>
        </p:nvSpPr>
        <p:spPr>
          <a:xfrm>
            <a:off x="5916168" y="3108960"/>
            <a:ext cx="5815584" cy="438912"/>
          </a:xfrm>
          <a:prstGeom prst="roundRect">
            <a:avLst>
              <a:gd name="adj" fmla="val 14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6080759" y="3108960"/>
            <a:ext cx="55412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Physics prior + fleet head: 6.0 % error even on unseen vessel types; loaders for FuelCast, EU MRV and operator logs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57200" y="3621024"/>
            <a:ext cx="4892040" cy="438912"/>
          </a:xfrm>
          <a:prstGeom prst="roundRect">
            <a:avLst>
              <a:gd name="adj" fmla="val 14000"/>
            </a:avLst>
          </a:prstGeom>
          <a:solidFill>
            <a:srgbClr val="F7E6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621792" y="3621024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ML can output unphysical fuel curves that an optimiser exploits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5513831" y="3749040"/>
            <a:ext cx="274320" cy="1828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8" name="Rounded Rectangle 17437"/>
          <p:cNvSpPr/>
          <p:nvPr/>
        </p:nvSpPr>
        <p:spPr>
          <a:xfrm>
            <a:off x="5916168" y="3621024"/>
            <a:ext cx="5815584" cy="438912"/>
          </a:xfrm>
          <a:prstGeom prst="roundRect">
            <a:avLst>
              <a:gd name="adj" fmla="val 14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6080759" y="3621024"/>
            <a:ext cx="55412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Booster certified non-decreasing in speed; 90 % conformal intervals flag uncertainty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57200" y="4133087"/>
            <a:ext cx="4892040" cy="438912"/>
          </a:xfrm>
          <a:prstGeom prst="roundRect">
            <a:avLst>
              <a:gd name="adj" fmla="val 14000"/>
            </a:avLst>
          </a:prstGeom>
          <a:solidFill>
            <a:srgbClr val="F7E6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621792" y="4133087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Fuel prices and regulations keep shifting</a:t>
            </a:r>
          </a:p>
        </p:txBody>
      </p:sp>
      <p:sp>
        <p:nvSpPr>
          <p:cNvPr id="17442" name="Right Arrow 17441"/>
          <p:cNvSpPr/>
          <p:nvPr/>
        </p:nvSpPr>
        <p:spPr>
          <a:xfrm>
            <a:off x="5513831" y="4261104"/>
            <a:ext cx="274320" cy="1828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5916168" y="4133087"/>
            <a:ext cx="5815584" cy="438912"/>
          </a:xfrm>
          <a:prstGeom prst="roundRect">
            <a:avLst>
              <a:gd name="adj" fmla="val 14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6080759" y="4133087"/>
            <a:ext cx="55412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Scenario lab (2025–2050, prices, carbon, Red Sea, monsoon) + Monte Carlo robustness; factors in editable YAML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457200" y="4645151"/>
            <a:ext cx="4892040" cy="438912"/>
          </a:xfrm>
          <a:prstGeom prst="roundRect">
            <a:avLst>
              <a:gd name="adj" fmla="val 14000"/>
            </a:avLst>
          </a:prstGeom>
          <a:solidFill>
            <a:srgbClr val="F7E6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621792" y="4645151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Quantum hardware is still immature</a:t>
            </a:r>
          </a:p>
        </p:txBody>
      </p:sp>
      <p:sp>
        <p:nvSpPr>
          <p:cNvPr id="17447" name="Right Arrow 17446"/>
          <p:cNvSpPr/>
          <p:nvPr/>
        </p:nvSpPr>
        <p:spPr>
          <a:xfrm>
            <a:off x="5513831" y="4773168"/>
            <a:ext cx="274320" cy="1828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8" name="Rounded Rectangle 17447"/>
          <p:cNvSpPr/>
          <p:nvPr/>
        </p:nvSpPr>
        <p:spPr>
          <a:xfrm>
            <a:off x="5916168" y="4645151"/>
            <a:ext cx="5815584" cy="438912"/>
          </a:xfrm>
          <a:prstGeom prst="roundRect">
            <a:avLst>
              <a:gd name="adj" fmla="val 14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6080759" y="4645151"/>
            <a:ext cx="55412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Quantum-inspired algorithms run on normal CPUs now; the same QUBO runs on D-Wave later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57200" y="5157215"/>
            <a:ext cx="4892040" cy="438912"/>
          </a:xfrm>
          <a:prstGeom prst="roundRect">
            <a:avLst>
              <a:gd name="adj" fmla="val 14000"/>
            </a:avLst>
          </a:prstGeom>
          <a:solidFill>
            <a:srgbClr val="F7E6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621792" y="5157215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Very large fleets (100+ routes) converge more slowly</a:t>
            </a:r>
          </a:p>
        </p:txBody>
      </p:sp>
      <p:sp>
        <p:nvSpPr>
          <p:cNvPr id="17452" name="Right Arrow 17451"/>
          <p:cNvSpPr/>
          <p:nvPr/>
        </p:nvSpPr>
        <p:spPr>
          <a:xfrm>
            <a:off x="5513831" y="5285231"/>
            <a:ext cx="274320" cy="1828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3" name="Rounded Rectangle 17452"/>
          <p:cNvSpPr/>
          <p:nvPr/>
        </p:nvSpPr>
        <p:spPr>
          <a:xfrm>
            <a:off x="5916168" y="5157215"/>
            <a:ext cx="5815584" cy="438912"/>
          </a:xfrm>
          <a:prstGeom prst="roundRect">
            <a:avLst>
              <a:gd name="adj" fmla="val 14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6080759" y="5157215"/>
            <a:ext cx="55412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Every instance certified by the exact MILP; warm starts and adaptive rates on the roadmap</a:t>
            </a:r>
          </a:p>
        </p:txBody>
      </p:sp>
      <p:sp>
        <p:nvSpPr>
          <p:cNvPr id="17455" name="Oval 17454"/>
          <p:cNvSpPr/>
          <p:nvPr/>
        </p:nvSpPr>
        <p:spPr>
          <a:xfrm>
            <a:off x="484632" y="5751575"/>
            <a:ext cx="329184" cy="329184"/>
          </a:xfrm>
          <a:prstGeom prst="ellipse">
            <a:avLst/>
          </a:prstGeom>
          <a:solidFill>
            <a:srgbClr val="B88A2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6" name="Picture 17455" descr="coin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60" y="5820704"/>
            <a:ext cx="190926" cy="190926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960120" y="5742431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88A22"/>
                </a:solidFill>
                <a:latin typeface="Calibri"/>
              </a:rPr>
              <a:t>Viability: </a:t>
            </a:r>
            <a:r>
              <a:rPr sz="1050" b="0" i="0">
                <a:solidFill>
                  <a:srgbClr val="1E2935"/>
                </a:solidFill>
                <a:latin typeface="Calibri"/>
              </a:rPr>
              <a:t>SaaS or on-premise licence for fleet operators and ports. On the India network one avoided FuelEU penalty ($21.7 M a year) plus a 25 % lower fleet cost far outweighs running costs; the stack is open source and CPU-only.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253A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914400"/>
          </a:xfrm>
        </p:spPr>
        <p:txBody>
          <a:bodyPr anchor="ctr"/>
          <a:lstStyle/>
          <a:p>
            <a:pPr eaLnBrk="1" hangingPunct="1" algn="ctr"/>
            <a:r>
              <a:rPr sz="3200" b="1" i="0">
                <a:solidFill>
                  <a:srgbClr val="15253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solidFill>
                  <a:srgbClr val="FFFFFF"/>
                </a:solidFill>
                <a:latin typeface="Calibri"/>
              </a:rPr>
              <a:t>SIH 2026 · PS 26138 · Q-GreenFleet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5875">
            <a:solidFill>
              <a:srgbClr val="15253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>
                <a:solidFill>
                  <a:srgbClr val="15253A"/>
                </a:solidFill>
              </a:rPr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88720"/>
            <a:ext cx="44348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90">
                <a:solidFill>
                  <a:srgbClr val="15253A"/>
                </a:solidFill>
                <a:latin typeface="Calibri"/>
              </a:rPr>
              <a:t>INDIA 2030 CASE STUDY · 12 SERVICES</a:t>
            </a:r>
          </a:p>
        </p:txBody>
      </p:sp>
      <p:graphicFrame>
        <p:nvGraphicFramePr>
          <p:cNvPr id="17411" name="Chart 17410"/>
          <p:cNvGraphicFramePr>
            <a:graphicFrameLocks noGrp="1"/>
          </p:cNvGraphicFramePr>
          <p:nvPr/>
        </p:nvGraphicFramePr>
        <p:xfrm>
          <a:off x="457200" y="1444752"/>
          <a:ext cx="443484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2" name="Rounded Rectangle 17411"/>
          <p:cNvSpPr/>
          <p:nvPr/>
        </p:nvSpPr>
        <p:spPr>
          <a:xfrm>
            <a:off x="457200" y="3931920"/>
            <a:ext cx="2144268" cy="1024128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603504" y="4023359"/>
            <a:ext cx="191566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E6B50"/>
                </a:solidFill>
                <a:latin typeface="Cambria"/>
              </a:rPr>
              <a:t>−59 %</a:t>
            </a:r>
            <a:r>
              <a:rPr sz="1100" b="1" i="0">
                <a:solidFill>
                  <a:srgbClr val="5A6878"/>
                </a:solidFill>
                <a:latin typeface="Calibri"/>
              </a:rPr>
              <a:t>  GHG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3504" y="4517136"/>
            <a:ext cx="191566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1.23 Mt CO₂e a year avoided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747772" y="3931920"/>
            <a:ext cx="2144268" cy="1024128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2894076" y="4023359"/>
            <a:ext cx="191566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E6B50"/>
                </a:solidFill>
                <a:latin typeface="Cambria"/>
              </a:rPr>
              <a:t>−52 %</a:t>
            </a:r>
            <a:r>
              <a:rPr sz="1100" b="1" i="0">
                <a:solidFill>
                  <a:srgbClr val="5A6878"/>
                </a:solidFill>
                <a:latin typeface="Calibri"/>
              </a:rPr>
              <a:t>  fuel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894076" y="4517136"/>
            <a:ext cx="191566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297 kt a year less fuel (HFO-equivalent)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7200" y="5102352"/>
            <a:ext cx="2144268" cy="1024128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603504" y="5193792"/>
            <a:ext cx="191566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88A22"/>
                </a:solidFill>
                <a:latin typeface="Cambria"/>
              </a:rPr>
              <a:t>−25 %</a:t>
            </a:r>
            <a:r>
              <a:rPr sz="1100" b="1" i="0">
                <a:solidFill>
                  <a:srgbClr val="5A6878"/>
                </a:solidFill>
                <a:latin typeface="Calibri"/>
              </a:rPr>
              <a:t>  cost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03504" y="5687568"/>
            <a:ext cx="191566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$179 M a year lower fleet cost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747772" y="5102352"/>
            <a:ext cx="2144268" cy="1024128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2894076" y="5193792"/>
            <a:ext cx="191566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5452E"/>
                </a:solidFill>
                <a:latin typeface="Cambria"/>
              </a:rPr>
              <a:t>12/12</a:t>
            </a:r>
            <a:r>
              <a:rPr sz="1100" b="1" i="0">
                <a:solidFill>
                  <a:srgbClr val="5A6878"/>
                </a:solidFill>
                <a:latin typeface="Calibri"/>
              </a:rPr>
              <a:t>  CII A–B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894076" y="5687568"/>
            <a:ext cx="191566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1E2935"/>
                </a:solidFill>
                <a:latin typeface="Calibri"/>
              </a:rPr>
              <a:t>services compliant (1 of 12 today); $0 FuelEU penalty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257800" y="1188720"/>
            <a:ext cx="64739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90">
                <a:solidFill>
                  <a:srgbClr val="15253A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25" name="Oval 17424"/>
          <p:cNvSpPr/>
          <p:nvPr/>
        </p:nvSpPr>
        <p:spPr>
          <a:xfrm>
            <a:off x="5266944" y="1527048"/>
            <a:ext cx="530352" cy="530352"/>
          </a:xfrm>
          <a:prstGeom prst="ellipse">
            <a:avLst/>
          </a:prstGeom>
          <a:noFill/>
          <a:ln w="12700">
            <a:solidFill>
              <a:srgbClr val="15253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5330952" y="1591056"/>
            <a:ext cx="402336" cy="402336"/>
          </a:xfrm>
          <a:prstGeom prst="ellipse">
            <a:avLst/>
          </a:prstGeom>
          <a:solidFill>
            <a:srgbClr val="1525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7" name="Picture 17426" descr="shi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512" y="1687616"/>
            <a:ext cx="209214" cy="209214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5916168" y="1554480"/>
            <a:ext cx="57881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5253A"/>
                </a:solidFill>
                <a:latin typeface="Calibri"/>
              </a:rPr>
              <a:t>Shipping lines &amp; fleet operators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916168" y="1801368"/>
            <a:ext cx="57881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SCI, coastal and near-sea lines: lower fuel bills, CII / FuelEU compliance, ready reports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5266944" y="2139696"/>
            <a:ext cx="530352" cy="530352"/>
          </a:xfrm>
          <a:prstGeom prst="ellipse">
            <a:avLst/>
          </a:prstGeom>
          <a:noFill/>
          <a:ln w="12700">
            <a:solidFill>
              <a:srgbClr val="2F5D7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1" name="Oval 17430"/>
          <p:cNvSpPr/>
          <p:nvPr/>
        </p:nvSpPr>
        <p:spPr>
          <a:xfrm>
            <a:off x="5330952" y="2203703"/>
            <a:ext cx="402336" cy="402336"/>
          </a:xfrm>
          <a:prstGeom prst="ellipse">
            <a:avLst/>
          </a:prstGeom>
          <a:solidFill>
            <a:srgbClr val="2F5D7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2" name="Picture 17431" descr="anch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7512" y="2300264"/>
            <a:ext cx="209214" cy="209214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5916168" y="2167128"/>
            <a:ext cx="57881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5253A"/>
                </a:solidFill>
                <a:latin typeface="Calibri"/>
              </a:rPr>
              <a:t>Ports: Sagarmala &amp; Harit Sagar green ports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916168" y="2414016"/>
            <a:ext cx="57881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plan shore power and green-fuel bunkering demand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5266944" y="2752344"/>
            <a:ext cx="530352" cy="530352"/>
          </a:xfrm>
          <a:prstGeom prst="ellipse">
            <a:avLst/>
          </a:prstGeom>
          <a:noFill/>
          <a:ln w="12700">
            <a:solidFill>
              <a:srgbClr val="B88A2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6" name="Oval 17435"/>
          <p:cNvSpPr/>
          <p:nvPr/>
        </p:nvSpPr>
        <p:spPr>
          <a:xfrm>
            <a:off x="5330952" y="2816351"/>
            <a:ext cx="402336" cy="402336"/>
          </a:xfrm>
          <a:prstGeom prst="ellipse">
            <a:avLst/>
          </a:prstGeom>
          <a:solidFill>
            <a:srgbClr val="B88A2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7" name="Picture 17436" descr="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7512" y="2912912"/>
            <a:ext cx="209214" cy="209214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916168" y="2779776"/>
            <a:ext cx="57881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5253A"/>
                </a:solidFill>
                <a:latin typeface="Calibri"/>
              </a:rPr>
              <a:t>Regulators: DG Shipping, MoPSW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916168" y="3026664"/>
            <a:ext cx="57881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evidence for policy; test 2025–2050 pathways before they bind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5266944" y="3364991"/>
            <a:ext cx="530352" cy="530352"/>
          </a:xfrm>
          <a:prstGeom prst="ellipse">
            <a:avLst/>
          </a:prstGeom>
          <a:noFill/>
          <a:ln w="12700">
            <a:solidFill>
              <a:srgbClr val="2E6B5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41" name="Oval 17440"/>
          <p:cNvSpPr/>
          <p:nvPr/>
        </p:nvSpPr>
        <p:spPr>
          <a:xfrm>
            <a:off x="5330952" y="3428999"/>
            <a:ext cx="402336" cy="402336"/>
          </a:xfrm>
          <a:prstGeom prst="ellipse">
            <a:avLst/>
          </a:prstGeom>
          <a:solidFill>
            <a:srgbClr val="2E6B5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2" name="Picture 17441" descr="industr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7512" y="3525560"/>
            <a:ext cx="209214" cy="20921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5916168" y="3392424"/>
            <a:ext cx="57881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5253A"/>
                </a:solidFill>
                <a:latin typeface="Calibri"/>
              </a:rPr>
              <a:t>Green H₂ / ammonia hubs: Kandla, Tuticorin, Paradip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5916168" y="3639312"/>
            <a:ext cx="57881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E2935"/>
                </a:solidFill>
                <a:latin typeface="Calibri"/>
              </a:rPr>
              <a:t>see when and where green-fuel demand arrives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257800" y="4023360"/>
            <a:ext cx="64739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90">
                <a:solidFill>
                  <a:srgbClr val="15253A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5257800" y="4315968"/>
            <a:ext cx="2048255" cy="1847088"/>
          </a:xfrm>
          <a:prstGeom prst="roundRect">
            <a:avLst>
              <a:gd name="adj" fmla="val 8000"/>
            </a:avLst>
          </a:prstGeom>
          <a:solidFill>
            <a:srgbClr val="E3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7" name="Picture 17446" descr="leaf_kel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2392" y="4443984"/>
            <a:ext cx="310896" cy="310896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5824728" y="4462272"/>
            <a:ext cx="14081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E6B50"/>
                </a:solidFill>
                <a:latin typeface="Calibri"/>
              </a:rPr>
              <a:t>Environmental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5422392" y="4864608"/>
            <a:ext cx="1773935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2E6B50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1.23 Mt CO₂e a year less on 12 services</a:t>
            </a:r>
          </a:p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2E6B50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Shore power on 10 services: cleaner port air</a:t>
            </a:r>
          </a:p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2E6B50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Clear pathway to LNG and e-ammonia by 2050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7470648" y="4315968"/>
            <a:ext cx="2048255" cy="1847088"/>
          </a:xfrm>
          <a:prstGeom prst="roundRect">
            <a:avLst>
              <a:gd name="adj" fmla="val 8000"/>
            </a:avLst>
          </a:prstGeom>
          <a:solidFill>
            <a:srgbClr val="F5ED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1" name="Picture 17450" descr="coins_bras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4443984"/>
            <a:ext cx="310896" cy="310896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8037575" y="4462272"/>
            <a:ext cx="14081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88A22"/>
                </a:solidFill>
                <a:latin typeface="Calibri"/>
              </a:rPr>
              <a:t>Economic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635240" y="4864608"/>
            <a:ext cx="1773935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B88A22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$179 M a year lower fleet cost</a:t>
            </a:r>
          </a:p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B88A22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No FuelEU penalty; smaller EU ETS bill</a:t>
            </a:r>
          </a:p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B88A22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Less stranded-asset risk as rules tighten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683496" y="4315968"/>
            <a:ext cx="2048255" cy="1847088"/>
          </a:xfrm>
          <a:prstGeom prst="roundRect">
            <a:avLst>
              <a:gd name="adj" fmla="val 8000"/>
            </a:avLst>
          </a:prstGeom>
          <a:solidFill>
            <a:srgbClr val="E2EB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5" name="Picture 17454" descr="handshake_se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8088" y="4443984"/>
            <a:ext cx="310896" cy="310896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10250424" y="4462272"/>
            <a:ext cx="14081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F5D7C"/>
                </a:solidFill>
                <a:latin typeface="Calibri"/>
              </a:rPr>
              <a:t>Social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9848088" y="4864608"/>
            <a:ext cx="1773935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2F5D7C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Backs Maritime India Vision 2030 and net zero 2070</a:t>
            </a:r>
          </a:p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2F5D7C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Skills and jobs in green-fuel shipping</a:t>
            </a:r>
          </a:p>
          <a:p>
            <a:pPr algn="l" marL="146304" indent="-146304">
              <a:lnSpc>
                <a:spcPct val="98000"/>
              </a:lnSpc>
              <a:spcAft>
                <a:spcPts val="500"/>
              </a:spcAft>
              <a:buClr>
                <a:srgbClr val="2F5D7C"/>
              </a:buClr>
              <a:buFont typeface="Arial"/>
              <a:buChar char="•"/>
            </a:pPr>
            <a:r>
              <a:rPr sz="1050" b="0" i="0">
                <a:solidFill>
                  <a:srgbClr val="1E2935"/>
                </a:solidFill>
                <a:latin typeface="Calibri"/>
              </a:rPr>
              <a:t>Healthier air in port cities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253A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914400"/>
          </a:xfrm>
        </p:spPr>
        <p:txBody>
          <a:bodyPr anchor="ctr"/>
          <a:lstStyle/>
          <a:p>
            <a:pPr eaLnBrk="1" hangingPunct="1" algn="ctr"/>
            <a:r>
              <a:rPr sz="3200" b="1" i="0">
                <a:solidFill>
                  <a:srgbClr val="15253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solidFill>
                  <a:srgbClr val="FFFFFF"/>
                </a:solidFill>
                <a:latin typeface="Calibri"/>
              </a:rPr>
              <a:t>SIH 2026 · PS 26138 · Q-GreenFleet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5875">
            <a:solidFill>
              <a:srgbClr val="15253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>
                <a:solidFill>
                  <a:srgbClr val="15253A"/>
                </a:solidFill>
              </a:rPr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887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90">
                <a:solidFill>
                  <a:srgbClr val="15253A"/>
                </a:solidFill>
                <a:latin typeface="Calibri"/>
              </a:rPr>
              <a:t>OUR RESEARCH &amp; EXPERIMENTS</a:t>
            </a:r>
          </a:p>
        </p:txBody>
      </p:sp>
      <p:graphicFrame>
        <p:nvGraphicFramePr>
          <p:cNvPr id="17411" name="Chart 17410"/>
          <p:cNvGraphicFramePr>
            <a:graphicFrameLocks noGrp="1"/>
          </p:cNvGraphicFramePr>
          <p:nvPr/>
        </p:nvGraphicFramePr>
        <p:xfrm>
          <a:off x="457200" y="1444752"/>
          <a:ext cx="457200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17412" name="Picture 17411" descr="brain_ke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51960"/>
            <a:ext cx="237744" cy="237744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04672" y="4114800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15253A"/>
                </a:solidFill>
                <a:latin typeface="Calibri"/>
              </a:rPr>
              <a:t>Prediction: </a:t>
            </a:r>
            <a:r>
              <a:rPr sz="1050" b="0" i="0">
                <a:solidFill>
                  <a:srgbClr val="1E2935"/>
                </a:solidFill>
                <a:latin typeface="Calibri"/>
              </a:rPr>
              <a:t>3.29 % MAPE vs 5.28 % LightGBM; Wilcoxon p ≤ 0.001 on 20 ships</a:t>
            </a:r>
          </a:p>
        </p:txBody>
      </p:sp>
      <p:pic>
        <p:nvPicPr>
          <p:cNvPr id="17414" name="Picture 17413" descr="target_ke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64024"/>
            <a:ext cx="237744" cy="237744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804672" y="4626864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15253A"/>
                </a:solidFill>
                <a:latin typeface="Calibri"/>
              </a:rPr>
              <a:t>Exact gap: </a:t>
            </a:r>
            <a:r>
              <a:rPr sz="1050" b="0" i="0">
                <a:solidFill>
                  <a:srgbClr val="1E2935"/>
                </a:solidFill>
                <a:latin typeface="Calibri"/>
              </a:rPr>
              <a:t>1.1 % fuel · 3.1 % GHG · 3.2 % cost from the MILP optimum</a:t>
            </a:r>
          </a:p>
        </p:txBody>
      </p:sp>
      <p:pic>
        <p:nvPicPr>
          <p:cNvPr id="17416" name="Picture 17415" descr="atom_ke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276088"/>
            <a:ext cx="237744" cy="23774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804672" y="5138928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15253A"/>
                </a:solidFill>
                <a:latin typeface="Calibri"/>
              </a:rPr>
              <a:t>QUBO + SQA: </a:t>
            </a:r>
            <a:r>
              <a:rPr sz="1050" b="0" i="0">
                <a:solidFill>
                  <a:srgbClr val="1E2935"/>
                </a:solidFill>
                <a:latin typeface="Calibri"/>
              </a:rPr>
              <a:t>our path-integral annealer best in 4 of 6 cases; every plan feasible</a:t>
            </a:r>
          </a:p>
        </p:txBody>
      </p:sp>
      <p:pic>
        <p:nvPicPr>
          <p:cNvPr id="17418" name="Picture 17417" descr="warning_hu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788152"/>
            <a:ext cx="237744" cy="23774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804672" y="5650992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15253A"/>
                </a:solidFill>
                <a:latin typeface="Calibri"/>
              </a:rPr>
              <a:t>Honest limit: </a:t>
            </a:r>
            <a:r>
              <a:rPr sz="1050" b="0" i="0">
                <a:solidFill>
                  <a:srgbClr val="1E2935"/>
                </a:solidFill>
                <a:latin typeface="Calibri"/>
              </a:rPr>
              <a:t>MOPSO leads on loose 50–100-route networks: on our roadmap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394960" y="1188720"/>
            <a:ext cx="6336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253A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394960" y="1572768"/>
            <a:ext cx="6336792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 spc="80">
                <a:solidFill>
                  <a:srgbClr val="2E6B50"/>
                </a:solidFill>
                <a:latin typeface="Calibri"/>
              </a:rPr>
              <a:t>MARITIME PHYSICS &amp; REGULATION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1.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IMO (2020). Fourth IMO GHG Study: bottom-up ship power and fuel model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2.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Regulation (EU) 2023/1805, FuelEU Maritime, Annex II well-to-wake factors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3.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IMO MEPC.353(78), MEPC.338(76), MEPC.400(83): CII reference lines &amp; reduction factors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4.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Directive (EU) 2023/959: EU ETS extended to shipping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5.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Kwon, Y. J. (2008). Speed loss due to added resistance in wind and waves. The Naval Architect</a:t>
            </a:r>
          </a:p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300"/>
              </a:spcAft>
            </a:pPr>
            <a:r>
              <a:rPr sz="950" b="1" i="0" spc="80">
                <a:solidFill>
                  <a:srgbClr val="2E6B50"/>
                </a:solidFill>
                <a:latin typeface="Calibri"/>
              </a:rPr>
              <a:t>ALGORITHMS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6.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Stoudenmire &amp; Schwab (2016). Supervised learning with tensor networks. NeurIPS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7.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Sun, Feng &amp; Xu (2004). PSO with particles having quantum behavior. IEEE CEC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8.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Han &amp; Kim (2002). Quantum-inspired evolutionary algorithm. IEEE Trans. Evol. Comput.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9.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Martoňák, Santoro &amp; Tosatti (2002). Quantum annealing by path-integral Monte Carlo. Phys. Rev. B 66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10.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Lucas (2014). Ising formulations of many NP problems. Frontiers in Physics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11.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Deb et al. (2002). NSGA-II. IEEE Trans. Evol. Comput.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12.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Angelopoulos &amp; Bates (2021). A gentle introduction to conformal prediction. arXiv:2107.07511</a:t>
            </a:r>
          </a:p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300"/>
              </a:spcAft>
            </a:pPr>
            <a:r>
              <a:rPr sz="950" b="1" i="0" spc="80">
                <a:solidFill>
                  <a:srgbClr val="2E6B50"/>
                </a:solidFill>
                <a:latin typeface="Calibri"/>
              </a:rPr>
              <a:t>DATA &amp; INDIAN POLICY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13.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FuelCast dataset (huggingface.co/datasets/krohnedigital/FuelCast); EU MRV / THETIS-MRV (EMSA)</a:t>
            </a:r>
          </a:p>
          <a:p>
            <a:pPr algn="l">
              <a:lnSpc>
                <a:spcPct val="100000"/>
              </a:lnSpc>
              <a:spcAft>
                <a:spcPts val="250"/>
              </a:spcAft>
            </a:pPr>
            <a:r>
              <a:rPr sz="1000" b="1" i="0">
                <a:solidFill>
                  <a:srgbClr val="B5452E"/>
                </a:solidFill>
                <a:latin typeface="Calibri"/>
              </a:rPr>
              <a:t>14.  </a:t>
            </a:r>
            <a:r>
              <a:rPr sz="1000" b="0" i="0">
                <a:solidFill>
                  <a:srgbClr val="1E2935"/>
                </a:solidFill>
                <a:latin typeface="Calibri"/>
              </a:rPr>
              <a:t>MoPSW (2023). Harit Sagar Green Port Guidelines; Maritime India Vision 2030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394960" y="5669280"/>
            <a:ext cx="6336792" cy="512064"/>
          </a:xfrm>
          <a:prstGeom prst="roundRect">
            <a:avLst>
              <a:gd name="adj" fmla="val 14000"/>
            </a:avLst>
          </a:prstGeom>
          <a:solidFill>
            <a:srgbClr val="EE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3" name="Picture 17422" descr="github_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1264" y="5779008"/>
            <a:ext cx="292608" cy="292608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5943600" y="5715000"/>
            <a:ext cx="56967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5253A"/>
                </a:solidFill>
                <a:latin typeface="Calibri"/>
              </a:rPr>
              <a:t>Prototype code &amp; benchmark reports: </a:t>
            </a:r>
            <a:r>
              <a:rPr sz="1050" b="1" i="0">
                <a:solidFill>
                  <a:srgbClr val="2F5D7C"/>
                </a:solidFill>
                <a:latin typeface="Calibri"/>
              </a:rPr>
              <a:t>github.com/DeepakSinghhh/PS-138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78"/>
                </a:solidFill>
                <a:latin typeface="Calibri"/>
              </a:rPr>
              <a:t>Icons: UIcons by Flaticon (flaticon.com) · Line Awesome by Icons8 (icons8.com)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